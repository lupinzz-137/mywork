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42" r:id="rId4"/>
    <p:sldId id="347" r:id="rId5"/>
    <p:sldId id="344" r:id="rId6"/>
    <p:sldId id="345" r:id="rId7"/>
    <p:sldId id="348" r:id="rId8"/>
    <p:sldId id="349" r:id="rId9"/>
    <p:sldId id="350" r:id="rId10"/>
    <p:sldId id="346" r:id="rId11"/>
    <p:sldId id="351" r:id="rId12"/>
    <p:sldId id="352" r:id="rId13"/>
    <p:sldId id="25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WEI BAI" initials="SB" lastIdx="1" clrIdx="0">
    <p:extLst>
      <p:ext uri="{19B8F6BF-5375-455C-9EA6-DF929625EA0E}">
        <p15:presenceInfo xmlns:p15="http://schemas.microsoft.com/office/powerpoint/2012/main" userId="SHIWEI B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A100"/>
    <a:srgbClr val="FFB100"/>
    <a:srgbClr val="B6FF49"/>
    <a:srgbClr val="A1A100"/>
    <a:srgbClr val="1A7B1A"/>
    <a:srgbClr val="3FFFFF"/>
    <a:srgbClr val="009BD5"/>
    <a:srgbClr val="349996"/>
    <a:srgbClr val="FF2F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144" y="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E1BA0-F7A2-4132-AE93-98F8C0E597A0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47A81-2FE4-4CF4-9BB6-DA2D5ED7C8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018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62114"/>
            <a:ext cx="9144000" cy="38705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4E0E6F4-E9EB-4710-B8A2-84BBBC7C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859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050" name="Picture 2" descr="https://t10.baidu.com/it/u=452683471,231923775&amp;fm=30&amp;app=106&amp;f=JPEG?w=640&amp;h=384&amp;s=6FA43D62C8D47FE9436859EF00007023">
            <a:extLst>
              <a:ext uri="{FF2B5EF4-FFF2-40B4-BE49-F238E27FC236}">
                <a16:creationId xmlns:a16="http://schemas.microsoft.com/office/drawing/2014/main" id="{E54C79A8-7479-4B15-B994-6DABF71610B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4" t="10529" r="35543" b="48882"/>
          <a:stretch/>
        </p:blipFill>
        <p:spPr bwMode="auto">
          <a:xfrm>
            <a:off x="10846946" y="-2"/>
            <a:ext cx="1345054" cy="114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3BE09F2-91E4-4504-BC1A-9BC70250D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rcRect r="9131"/>
          <a:stretch/>
        </p:blipFill>
        <p:spPr>
          <a:xfrm>
            <a:off x="0" y="5750794"/>
            <a:ext cx="11078817" cy="1107206"/>
          </a:xfrm>
          <a:prstGeom prst="rect">
            <a:avLst/>
          </a:prstGeom>
          <a:effectLst>
            <a:softEdge rad="16510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609832-C8CA-4B3D-A1CB-6D7628E6BF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560"/>
          <a:stretch/>
        </p:blipFill>
        <p:spPr>
          <a:xfrm>
            <a:off x="6626" y="0"/>
            <a:ext cx="1126288" cy="11428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0DC1EF-8FCE-40F5-9409-27EFA233C10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45792" y="5802102"/>
            <a:ext cx="1046208" cy="1004590"/>
          </a:xfrm>
          <a:prstGeom prst="rect">
            <a:avLst/>
          </a:prstGeom>
          <a:effectLst>
            <a:softEdge rad="15240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A0A3897C-DDCC-4718-88DD-BCB43B7D48A8}"/>
              </a:ext>
            </a:extLst>
          </p:cNvPr>
          <p:cNvSpPr txBox="1"/>
          <p:nvPr userDrawn="1"/>
        </p:nvSpPr>
        <p:spPr>
          <a:xfrm>
            <a:off x="735239" y="422008"/>
            <a:ext cx="2246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报告提纲</a:t>
            </a:r>
          </a:p>
        </p:txBody>
      </p:sp>
      <p:sp>
        <p:nvSpPr>
          <p:cNvPr id="18" name="动作按钮: 前进或下一项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F99B648-F934-4C00-9F03-EA72CFF1A664}"/>
              </a:ext>
            </a:extLst>
          </p:cNvPr>
          <p:cNvSpPr/>
          <p:nvPr userDrawn="1"/>
        </p:nvSpPr>
        <p:spPr>
          <a:xfrm>
            <a:off x="5899" y="518777"/>
            <a:ext cx="572237" cy="514349"/>
          </a:xfrm>
          <a:prstGeom prst="actionButtonForwardNext">
            <a:avLst/>
          </a:prstGeom>
          <a:solidFill>
            <a:schemeClr val="tx1"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39F3168C-7F99-4C64-92CE-DDD2C8491B39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56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5CE74E-AB26-4998-AD42-012C4C1AD076}" type="slidenum">
              <a:rPr lang="zh-CN" altLang="en-US" sz="18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‹#›</a:t>
            </a:fld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9B4599-6E70-4019-B57D-112B3D8B20FD}"/>
              </a:ext>
            </a:extLst>
          </p:cNvPr>
          <p:cNvSpPr/>
          <p:nvPr userDrawn="1"/>
        </p:nvSpPr>
        <p:spPr>
          <a:xfrm>
            <a:off x="6096000" y="0"/>
            <a:ext cx="6095999" cy="5028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C902AA08-48E9-4D60-9027-1DBD3F041661}"/>
              </a:ext>
            </a:extLst>
          </p:cNvPr>
          <p:cNvSpPr/>
          <p:nvPr userDrawn="1"/>
        </p:nvSpPr>
        <p:spPr>
          <a:xfrm rot="16200000">
            <a:off x="5583245" y="25877"/>
            <a:ext cx="538632" cy="48687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3EADE64-BEB4-4FF4-9315-9E89298F94E8}"/>
              </a:ext>
            </a:extLst>
          </p:cNvPr>
          <p:cNvCxnSpPr/>
          <p:nvPr userDrawn="1"/>
        </p:nvCxnSpPr>
        <p:spPr>
          <a:xfrm>
            <a:off x="0" y="461941"/>
            <a:ext cx="12191999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bg1"/>
                </a:gs>
                <a:gs pos="24000">
                  <a:schemeClr val="bg1"/>
                </a:gs>
                <a:gs pos="90000">
                  <a:srgbClr val="DC5968">
                    <a:alpha val="57000"/>
                  </a:srgbClr>
                </a:gs>
                <a:gs pos="77000">
                  <a:schemeClr val="accent6">
                    <a:lumMod val="60000"/>
                    <a:lumOff val="40000"/>
                  </a:schemeClr>
                </a:gs>
                <a:gs pos="100000">
                  <a:srgbClr val="C00000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39813E3-99DD-4764-A550-4BA042717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87541"/>
            <a:ext cx="12192000" cy="1479125"/>
          </a:xfrm>
          <a:solidFill>
            <a:srgbClr val="CFD2D9"/>
          </a:solidFill>
        </p:spPr>
        <p:txBody>
          <a:bodyPr>
            <a:normAutofit/>
          </a:bodyPr>
          <a:lstStyle/>
          <a:p>
            <a:r>
              <a:rPr lang="zh-CN" altLang="en-US" sz="4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4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FLUKA/MCNPX</a:t>
            </a:r>
            <a:r>
              <a:rPr lang="zh-CN" altLang="en-US" sz="4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计算光核反应的产率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361247A-E849-45A1-AD44-657EBBE94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08056"/>
            <a:ext cx="9144000" cy="52070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白世伟</a:t>
            </a:r>
            <a:endParaRPr lang="en-US" altLang="zh-CN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C27066-B82C-45BD-9C02-BA46DEB31F4F}"/>
              </a:ext>
            </a:extLst>
          </p:cNvPr>
          <p:cNvSpPr/>
          <p:nvPr/>
        </p:nvSpPr>
        <p:spPr>
          <a:xfrm>
            <a:off x="5003392" y="5119372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61233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6CB573-4DB5-4979-9139-4710FD1BF5FF}"/>
              </a:ext>
            </a:extLst>
          </p:cNvPr>
          <p:cNvSpPr txBox="1"/>
          <p:nvPr/>
        </p:nvSpPr>
        <p:spPr>
          <a:xfrm>
            <a:off x="2265218" y="1785634"/>
            <a:ext cx="7661564" cy="270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基于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 / MCNPX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的产率评估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辐射防护评估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伽马能谱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中子能谱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500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1" y="4141"/>
            <a:ext cx="528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韧致辐射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射线能谱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946899-6FB9-4B9F-8ED5-C8AB00555BB1}"/>
              </a:ext>
            </a:extLst>
          </p:cNvPr>
          <p:cNvSpPr txBox="1"/>
          <p:nvPr/>
        </p:nvSpPr>
        <p:spPr>
          <a:xfrm>
            <a:off x="195648" y="868627"/>
            <a:ext cx="11800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光核反应条件：电子束能量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 MeV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，半径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 cm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靶呈圆柱型，半径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cm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，高度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 cm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59EBEF-46B9-49EA-9E17-D6A012499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76" y="1683266"/>
            <a:ext cx="3607379" cy="36159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3C6DCD3-4BEE-49A2-93A3-B27BAB177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202" y="1683266"/>
            <a:ext cx="3624597" cy="36159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6D7116-CBAF-4C26-977B-A3BEEF92C9BB}"/>
              </a:ext>
            </a:extLst>
          </p:cNvPr>
          <p:cNvSpPr txBox="1"/>
          <p:nvPr/>
        </p:nvSpPr>
        <p:spPr>
          <a:xfrm>
            <a:off x="252778" y="5621694"/>
            <a:ext cx="7571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从模拟程序来看，两个蒙卡程序的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射线能谱形状一致。由于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中运行的粒子数事件为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1.0E8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，因此能谱的计数涨落较小。下一步将提取发生光核裂变的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射线，高效模拟光核裂变产生的放射性核素产额。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8815BF7-110F-44B4-9553-5B3B7FC13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846" y="1683266"/>
            <a:ext cx="4229020" cy="3615968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B02F378-3227-4703-98D2-FF18D5A5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668272"/>
              </p:ext>
            </p:extLst>
          </p:nvPr>
        </p:nvGraphicFramePr>
        <p:xfrm>
          <a:off x="7934446" y="5608379"/>
          <a:ext cx="3949420" cy="9499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987355">
                  <a:extLst>
                    <a:ext uri="{9D8B030D-6E8A-4147-A177-3AD203B41FA5}">
                      <a16:colId xmlns:a16="http://schemas.microsoft.com/office/drawing/2014/main" val="2787017510"/>
                    </a:ext>
                  </a:extLst>
                </a:gridCol>
                <a:gridCol w="987355">
                  <a:extLst>
                    <a:ext uri="{9D8B030D-6E8A-4147-A177-3AD203B41FA5}">
                      <a16:colId xmlns:a16="http://schemas.microsoft.com/office/drawing/2014/main" val="1012514874"/>
                    </a:ext>
                  </a:extLst>
                </a:gridCol>
                <a:gridCol w="987355">
                  <a:extLst>
                    <a:ext uri="{9D8B030D-6E8A-4147-A177-3AD203B41FA5}">
                      <a16:colId xmlns:a16="http://schemas.microsoft.com/office/drawing/2014/main" val="3226005221"/>
                    </a:ext>
                  </a:extLst>
                </a:gridCol>
                <a:gridCol w="987355">
                  <a:extLst>
                    <a:ext uri="{9D8B030D-6E8A-4147-A177-3AD203B41FA5}">
                      <a16:colId xmlns:a16="http://schemas.microsoft.com/office/drawing/2014/main" val="1291840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FLUKA-4.5.0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MCNPX-LLNL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MCNPX-ENDF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产率比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0.751162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0.771453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0.771220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44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12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1" y="4141"/>
            <a:ext cx="7373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光核裂变对应的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射线位置分布和方向分布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07D176-CFEA-4965-B08A-58FB74867653}"/>
              </a:ext>
            </a:extLst>
          </p:cNvPr>
          <p:cNvSpPr txBox="1"/>
          <p:nvPr/>
        </p:nvSpPr>
        <p:spPr>
          <a:xfrm>
            <a:off x="144683" y="700804"/>
            <a:ext cx="619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计算发生光核裂变反应对应的光子位置和方向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38F6EF-F31C-433C-A046-AEA66CB8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98" y="1458413"/>
            <a:ext cx="5174944" cy="43462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6D78A5-2B59-4330-9347-3A50271D2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586" y="1446839"/>
            <a:ext cx="5267731" cy="43462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4C3050D-9525-4C92-A796-D14E1DDF4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1412493" y="2984962"/>
            <a:ext cx="4429617" cy="13152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52A8D5-B241-433A-8C81-DAD8134347F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9799" y="5823852"/>
            <a:ext cx="4709798" cy="90104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BA8569A-E97E-4D5E-BE54-519F7145411C}"/>
              </a:ext>
            </a:extLst>
          </p:cNvPr>
          <p:cNvSpPr/>
          <p:nvPr/>
        </p:nvSpPr>
        <p:spPr>
          <a:xfrm>
            <a:off x="2701238" y="1223415"/>
            <a:ext cx="2852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发生光核裂变的光子位置分布</a:t>
            </a:r>
            <a:endParaRPr lang="zh-CN" altLang="en-US" sz="16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5848C9-6922-4F46-870E-A389949D0820}"/>
              </a:ext>
            </a:extLst>
          </p:cNvPr>
          <p:cNvSpPr/>
          <p:nvPr/>
        </p:nvSpPr>
        <p:spPr>
          <a:xfrm>
            <a:off x="7940131" y="1223415"/>
            <a:ext cx="2946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发生光核裂变的光子方向分布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52E331-BEB0-4868-8880-D84D4C2F4DBB}"/>
              </a:ext>
            </a:extLst>
          </p:cNvPr>
          <p:cNvSpPr/>
          <p:nvPr/>
        </p:nvSpPr>
        <p:spPr>
          <a:xfrm>
            <a:off x="6714742" y="5857402"/>
            <a:ext cx="52677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沿着电子束的方向，绝大部分韧致辐射的光子前向发射，在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0-2 cm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范围内发生光核裂变，并产生放射性核素。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6670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679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光核裂变对应的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能谱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B02F378-3227-4703-98D2-FF18D5A5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16347"/>
              </p:ext>
            </p:extLst>
          </p:nvPr>
        </p:nvGraphicFramePr>
        <p:xfrm>
          <a:off x="7099917" y="1593268"/>
          <a:ext cx="4528203" cy="9499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08313">
                  <a:extLst>
                    <a:ext uri="{9D8B030D-6E8A-4147-A177-3AD203B41FA5}">
                      <a16:colId xmlns:a16="http://schemas.microsoft.com/office/drawing/2014/main" val="2787017510"/>
                    </a:ext>
                  </a:extLst>
                </a:gridCol>
                <a:gridCol w="1810489">
                  <a:extLst>
                    <a:ext uri="{9D8B030D-6E8A-4147-A177-3AD203B41FA5}">
                      <a16:colId xmlns:a16="http://schemas.microsoft.com/office/drawing/2014/main" val="1012514874"/>
                    </a:ext>
                  </a:extLst>
                </a:gridCol>
                <a:gridCol w="1509401">
                  <a:extLst>
                    <a:ext uri="{9D8B030D-6E8A-4147-A177-3AD203B41FA5}">
                      <a16:colId xmlns:a16="http://schemas.microsoft.com/office/drawing/2014/main" val="3226005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FLUKA-4.5.0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MCNPX-IAEA/PD-2019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产率比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3.8×10</a:t>
                      </a:r>
                      <a:r>
                        <a:rPr lang="en-US" altLang="zh-CN" sz="1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 sz="16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4.0×10</a:t>
                      </a:r>
                      <a:r>
                        <a:rPr lang="en-US" altLang="zh-CN" sz="1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zh-CN" altLang="en-US" sz="16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4436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A07D176-CFEA-4965-B08A-58FB74867653}"/>
              </a:ext>
            </a:extLst>
          </p:cNvPr>
          <p:cNvSpPr txBox="1"/>
          <p:nvPr/>
        </p:nvSpPr>
        <p:spPr>
          <a:xfrm>
            <a:off x="428300" y="646618"/>
            <a:ext cx="11315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FLUKA-4.5.0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和基于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IAEA/PD-2019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数据库的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MCNPX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精细计算光致裂变的光子能谱，并作为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(γ,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反应的输入，从而提高计算效率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个量级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03D45A-D72F-4FCA-9C42-649FD83E8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78" y="1593268"/>
            <a:ext cx="6285820" cy="502306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3EFC9F7-8005-41BD-8198-FA29664C9858}"/>
              </a:ext>
            </a:extLst>
          </p:cNvPr>
          <p:cNvSpPr/>
          <p:nvPr/>
        </p:nvSpPr>
        <p:spPr>
          <a:xfrm>
            <a:off x="7099918" y="2543228"/>
            <a:ext cx="4528202" cy="4115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MCNPX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得到统计涨落较低的光致裂变光子能谱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小时数据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IAEA/PD-2019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MCNPX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10-15 MeV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能区存在明显的共振结构；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给出的结果相对平滑；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下一步：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FLUKA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从电子源开始计算产额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计算时间巨长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以伽马作为源，利用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计算放射性核素产率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计算时间减少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个数量级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以伽马作为源，利用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Bohr-substitution models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计算放射性核素产率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计算时间较快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845147-FC25-4EB9-90E3-2418D1E5CE7E}"/>
              </a:ext>
            </a:extLst>
          </p:cNvPr>
          <p:cNvSpPr/>
          <p:nvPr/>
        </p:nvSpPr>
        <p:spPr>
          <a:xfrm rot="20190504">
            <a:off x="3350350" y="3904747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小时数据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3008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1" y="4141"/>
            <a:ext cx="6950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光核裂变的核素产率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—FLUKA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1EE697-4DAD-48A4-83B9-B788864FD483}"/>
              </a:ext>
            </a:extLst>
          </p:cNvPr>
          <p:cNvGrpSpPr/>
          <p:nvPr/>
        </p:nvGrpSpPr>
        <p:grpSpPr>
          <a:xfrm>
            <a:off x="286666" y="642924"/>
            <a:ext cx="6831764" cy="369332"/>
            <a:chOff x="286666" y="582157"/>
            <a:chExt cx="6831764" cy="36933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E8A8F24-16E5-4E10-BC99-A70BB4125CDA}"/>
                </a:ext>
              </a:extLst>
            </p:cNvPr>
            <p:cNvSpPr/>
            <p:nvPr/>
          </p:nvSpPr>
          <p:spPr>
            <a:xfrm>
              <a:off x="286666" y="582157"/>
              <a:ext cx="32134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电子束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50 MeV, </a:t>
              </a:r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 mA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D14A17E-E51E-49CB-93C9-B221384FCE43}"/>
                </a:ext>
              </a:extLst>
            </p:cNvPr>
            <p:cNvSpPr txBox="1"/>
            <p:nvPr/>
          </p:nvSpPr>
          <p:spPr>
            <a:xfrm>
              <a:off x="3599725" y="582157"/>
              <a:ext cx="3518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小时数据，输运电子数目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2×10</a:t>
              </a:r>
              <a:r>
                <a:rPr lang="en-US" altLang="zh-CN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4DB3D9F0-B3CF-46A9-8CAD-697AFE04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47" y="1189374"/>
            <a:ext cx="6690583" cy="5396621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9C85D8-728A-48DB-8572-72A2032F7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030535"/>
              </p:ext>
            </p:extLst>
          </p:nvPr>
        </p:nvGraphicFramePr>
        <p:xfrm>
          <a:off x="7755033" y="1522071"/>
          <a:ext cx="3831222" cy="4583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7074">
                  <a:extLst>
                    <a:ext uri="{9D8B030D-6E8A-4147-A177-3AD203B41FA5}">
                      <a16:colId xmlns:a16="http://schemas.microsoft.com/office/drawing/2014/main" val="2920416332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2900936200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1085998777"/>
                    </a:ext>
                  </a:extLst>
                </a:gridCol>
              </a:tblGrid>
              <a:tr h="629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work (/s)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cjw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(/s)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145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39283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4116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6.84×10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6180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9.59×10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06927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6.25×10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73458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2.83×10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32240"/>
                  </a:ext>
                </a:extLst>
              </a:tr>
              <a:tr h="539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6.54×10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08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43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1" y="4141"/>
            <a:ext cx="6950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光核裂变的核素产率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—FLUKA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A8F24-16E5-4E10-BC99-A70BB4125CDA}"/>
              </a:ext>
            </a:extLst>
          </p:cNvPr>
          <p:cNvSpPr/>
          <p:nvPr/>
        </p:nvSpPr>
        <p:spPr>
          <a:xfrm>
            <a:off x="427847" y="642924"/>
            <a:ext cx="6383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小时数据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来自基于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FLUKA-4.5.0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数据库的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 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9C85D8-728A-48DB-8572-72A2032F7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364592"/>
              </p:ext>
            </p:extLst>
          </p:nvPr>
        </p:nvGraphicFramePr>
        <p:xfrm>
          <a:off x="7755033" y="1522071"/>
          <a:ext cx="3831222" cy="4583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7074">
                  <a:extLst>
                    <a:ext uri="{9D8B030D-6E8A-4147-A177-3AD203B41FA5}">
                      <a16:colId xmlns:a16="http://schemas.microsoft.com/office/drawing/2014/main" val="2920416332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2900936200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1085998777"/>
                    </a:ext>
                  </a:extLst>
                </a:gridCol>
              </a:tblGrid>
              <a:tr h="629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work (/s)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cjw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(/s)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145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39283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4116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6180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06927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73458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5.42×10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32240"/>
                  </a:ext>
                </a:extLst>
              </a:tr>
              <a:tr h="539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08578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430500C-26F0-49B8-88FB-59AC3A4AF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47" y="1105383"/>
            <a:ext cx="6867702" cy="559057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F6976F7-4235-40FB-A279-8A95BBF450C9}"/>
              </a:ext>
            </a:extLst>
          </p:cNvPr>
          <p:cNvSpPr txBox="1"/>
          <p:nvPr/>
        </p:nvSpPr>
        <p:spPr>
          <a:xfrm>
            <a:off x="6957861" y="642924"/>
            <a:ext cx="437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528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小时数据，输运光子数目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1.1×10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86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7876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光核裂变的核素产率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—Bohr-substitution models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A8F24-16E5-4E10-BC99-A70BB4125CDA}"/>
              </a:ext>
            </a:extLst>
          </p:cNvPr>
          <p:cNvSpPr/>
          <p:nvPr/>
        </p:nvSpPr>
        <p:spPr>
          <a:xfrm>
            <a:off x="427847" y="642924"/>
            <a:ext cx="6383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小时数据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来自基于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FLUKA-4.5.0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数据库的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FLUKA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 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9C85D8-728A-48DB-8572-72A2032F7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21697"/>
              </p:ext>
            </p:extLst>
          </p:nvPr>
        </p:nvGraphicFramePr>
        <p:xfrm>
          <a:off x="7755033" y="1522071"/>
          <a:ext cx="3831222" cy="4583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7074">
                  <a:extLst>
                    <a:ext uri="{9D8B030D-6E8A-4147-A177-3AD203B41FA5}">
                      <a16:colId xmlns:a16="http://schemas.microsoft.com/office/drawing/2014/main" val="2920416332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2900936200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1085998777"/>
                    </a:ext>
                  </a:extLst>
                </a:gridCol>
              </a:tblGrid>
              <a:tr h="629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work (/s)</a:t>
                      </a:r>
                      <a:endParaRPr lang="zh-CN" altLang="en-US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cjw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(/s)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145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6.59×10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39283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3.46×10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4116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6180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2.65×10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06927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1.97×10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73458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32240"/>
                  </a:ext>
                </a:extLst>
              </a:tr>
              <a:tr h="539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2.15×10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0857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F0369F10-2681-4CC8-ADFB-93BFD71C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47" y="1141887"/>
            <a:ext cx="6868353" cy="55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9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7876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238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光核裂变的核素产率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—Bohr-substitution models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8A8F24-16E5-4E10-BC99-A70BB4125CDA}"/>
              </a:ext>
            </a:extLst>
          </p:cNvPr>
          <p:cNvSpPr/>
          <p:nvPr/>
        </p:nvSpPr>
        <p:spPr>
          <a:xfrm>
            <a:off x="427847" y="642924"/>
            <a:ext cx="66195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能谱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小时数据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来自基于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IAEA/PD-2019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数据库的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MCNPX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 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29C85D8-728A-48DB-8572-72A2032F7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292870"/>
              </p:ext>
            </p:extLst>
          </p:nvPr>
        </p:nvGraphicFramePr>
        <p:xfrm>
          <a:off x="7755033" y="1522071"/>
          <a:ext cx="3831222" cy="4583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7074">
                  <a:extLst>
                    <a:ext uri="{9D8B030D-6E8A-4147-A177-3AD203B41FA5}">
                      <a16:colId xmlns:a16="http://schemas.microsoft.com/office/drawing/2014/main" val="2920416332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2900936200"/>
                    </a:ext>
                  </a:extLst>
                </a:gridCol>
                <a:gridCol w="1277074">
                  <a:extLst>
                    <a:ext uri="{9D8B030D-6E8A-4147-A177-3AD203B41FA5}">
                      <a16:colId xmlns:a16="http://schemas.microsoft.com/office/drawing/2014/main" val="1085998777"/>
                    </a:ext>
                  </a:extLst>
                </a:gridCol>
              </a:tblGrid>
              <a:tr h="629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work (/s)</a:t>
                      </a:r>
                      <a:endParaRPr lang="zh-CN" altLang="en-US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cjw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(/s)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145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7.79×10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39283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3.76×10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4116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3.46×10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6180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2.79×10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06927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73458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32240"/>
                  </a:ext>
                </a:extLst>
              </a:tr>
              <a:tr h="539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2.27×10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08578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D5635FBF-71BF-4E38-B43C-7DF6A90A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47" y="1189374"/>
            <a:ext cx="6815566" cy="546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5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679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1.8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光核裂变的核素产率总结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D1133D-EF13-4F57-BA06-F71ABD5AD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833652"/>
              </p:ext>
            </p:extLst>
          </p:nvPr>
        </p:nvGraphicFramePr>
        <p:xfrm>
          <a:off x="1034973" y="1711480"/>
          <a:ext cx="10122054" cy="4583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87009">
                  <a:extLst>
                    <a:ext uri="{9D8B030D-6E8A-4147-A177-3AD203B41FA5}">
                      <a16:colId xmlns:a16="http://schemas.microsoft.com/office/drawing/2014/main" val="2920416332"/>
                    </a:ext>
                  </a:extLst>
                </a:gridCol>
                <a:gridCol w="1687009">
                  <a:extLst>
                    <a:ext uri="{9D8B030D-6E8A-4147-A177-3AD203B41FA5}">
                      <a16:colId xmlns:a16="http://schemas.microsoft.com/office/drawing/2014/main" val="2900936200"/>
                    </a:ext>
                  </a:extLst>
                </a:gridCol>
                <a:gridCol w="1687009">
                  <a:extLst>
                    <a:ext uri="{9D8B030D-6E8A-4147-A177-3AD203B41FA5}">
                      <a16:colId xmlns:a16="http://schemas.microsoft.com/office/drawing/2014/main" val="4162009306"/>
                    </a:ext>
                  </a:extLst>
                </a:gridCol>
                <a:gridCol w="1687009">
                  <a:extLst>
                    <a:ext uri="{9D8B030D-6E8A-4147-A177-3AD203B41FA5}">
                      <a16:colId xmlns:a16="http://schemas.microsoft.com/office/drawing/2014/main" val="98328614"/>
                    </a:ext>
                  </a:extLst>
                </a:gridCol>
                <a:gridCol w="1687009">
                  <a:extLst>
                    <a:ext uri="{9D8B030D-6E8A-4147-A177-3AD203B41FA5}">
                      <a16:colId xmlns:a16="http://schemas.microsoft.com/office/drawing/2014/main" val="1178535061"/>
                    </a:ext>
                  </a:extLst>
                </a:gridCol>
                <a:gridCol w="1687009">
                  <a:extLst>
                    <a:ext uri="{9D8B030D-6E8A-4147-A177-3AD203B41FA5}">
                      <a16:colId xmlns:a16="http://schemas.microsoft.com/office/drawing/2014/main" val="1085998777"/>
                    </a:ext>
                  </a:extLst>
                </a:gridCol>
              </a:tblGrid>
              <a:tr h="6298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Nuclei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</a:t>
                      </a:r>
                    </a:p>
                    <a:p>
                      <a:pPr algn="ctr"/>
                      <a:r>
                        <a:rPr lang="en-US" altLang="zh-CN" sz="1800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U(</a:t>
                      </a:r>
                      <a:r>
                        <a:rPr lang="en-US" altLang="zh-CN" sz="18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8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</a:t>
                      </a:r>
                    </a:p>
                    <a:p>
                      <a:pPr algn="ctr"/>
                      <a:r>
                        <a:rPr lang="en-US" altLang="zh-CN" sz="1800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U(</a:t>
                      </a:r>
                      <a:r>
                        <a:rPr lang="en-US" altLang="zh-CN" sz="18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</a:t>
                      </a:r>
                    </a:p>
                    <a:p>
                      <a:pPr algn="ctr"/>
                      <a:r>
                        <a:rPr lang="en-US" altLang="zh-CN" sz="1800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</a:t>
                      </a:r>
                      <a:r>
                        <a:rPr lang="en-US" altLang="zh-CN" sz="18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U(</a:t>
                      </a:r>
                      <a:r>
                        <a:rPr lang="en-US" altLang="zh-CN" sz="1800" i="1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r>
                        <a:rPr lang="en-US" altLang="zh-CN" sz="18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8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i="1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18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MCNPX</a:t>
                      </a:r>
                    </a:p>
                    <a:p>
                      <a:pPr algn="ctr"/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</a:t>
                      </a: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U(</a:t>
                      </a:r>
                      <a:r>
                        <a:rPr lang="el-GR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γ, </a:t>
                      </a:r>
                      <a:r>
                        <a:rPr lang="en-US" altLang="zh-CN" i="1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cjw</a:t>
                      </a:r>
                      <a:endPara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(/s)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01145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6.59×10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7.79×10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−2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39283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3.46×10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3.76×10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641160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6.84×10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3.46×10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16180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9.59×10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2.65×10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2.79×10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4.66×10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069274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6.25×10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1.97×10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73458"/>
                  </a:ext>
                </a:extLst>
              </a:tr>
              <a:tr h="56730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142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2.83×10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5.42×10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1.06×10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1.11×10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732240"/>
                  </a:ext>
                </a:extLst>
              </a:tr>
              <a:tr h="539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6.54×10</a:t>
                      </a:r>
                      <a:r>
                        <a:rPr lang="en-US" altLang="zh-CN" baseline="30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1.29×10</a:t>
                      </a:r>
                      <a:r>
                        <a:rPr lang="en-US" altLang="zh-CN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2.15×10</a:t>
                      </a:r>
                      <a:r>
                        <a:rPr lang="en-US" altLang="zh-CN" baseline="30000" dirty="0">
                          <a:solidFill>
                            <a:srgbClr val="FFB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FFB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2.27×10</a:t>
                      </a:r>
                      <a:r>
                        <a:rPr lang="en-US" altLang="zh-CN" baseline="30000" dirty="0">
                          <a:solidFill>
                            <a:srgbClr val="00A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solidFill>
                          <a:srgbClr val="00A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2.98×10</a:t>
                      </a:r>
                      <a:r>
                        <a:rPr lang="en-US" altLang="zh-CN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08578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E3CA66F8-C0AA-4B4A-8A07-13AD4F833E33}"/>
              </a:ext>
            </a:extLst>
          </p:cNvPr>
          <p:cNvSpPr/>
          <p:nvPr/>
        </p:nvSpPr>
        <p:spPr>
          <a:xfrm>
            <a:off x="6389050" y="870548"/>
            <a:ext cx="27731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Bohr-substitution models</a:t>
            </a:r>
            <a:endParaRPr lang="zh-CN" altLang="en-US" sz="2000" dirty="0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4E1A444D-518F-41AB-A544-F08C931D9C6C}"/>
              </a:ext>
            </a:extLst>
          </p:cNvPr>
          <p:cNvSpPr/>
          <p:nvPr/>
        </p:nvSpPr>
        <p:spPr>
          <a:xfrm rot="-5400000">
            <a:off x="7654114" y="-124791"/>
            <a:ext cx="243069" cy="3193907"/>
          </a:xfrm>
          <a:prstGeom prst="rightBrac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69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679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辐射防护评估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伽马能谱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FC2D28-FB88-4D1C-9F50-FEF570ED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69" y="1880431"/>
            <a:ext cx="5545517" cy="41807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AFC122-C584-42C7-8D06-D983D8973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773" y="1916124"/>
            <a:ext cx="5387718" cy="40841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9DED281-008C-4A20-9BDE-BD926F0C673D}"/>
              </a:ext>
            </a:extLst>
          </p:cNvPr>
          <p:cNvSpPr txBox="1"/>
          <p:nvPr/>
        </p:nvSpPr>
        <p:spPr>
          <a:xfrm>
            <a:off x="2752832" y="5980694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(cm)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5699C0-66E5-42EF-AAE9-2E9786A98DDB}"/>
              </a:ext>
            </a:extLst>
          </p:cNvPr>
          <p:cNvSpPr txBox="1"/>
          <p:nvPr/>
        </p:nvSpPr>
        <p:spPr>
          <a:xfrm rot="16200000">
            <a:off x="29221" y="3773538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(cm)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7556C7-B8E1-4641-A8CE-7D75B243CC66}"/>
              </a:ext>
            </a:extLst>
          </p:cNvPr>
          <p:cNvSpPr txBox="1"/>
          <p:nvPr/>
        </p:nvSpPr>
        <p:spPr>
          <a:xfrm>
            <a:off x="8311870" y="5980694"/>
            <a:ext cx="225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 Energy (GeV)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28F014-16F3-4496-92F8-A163DB0E41A8}"/>
              </a:ext>
            </a:extLst>
          </p:cNvPr>
          <p:cNvSpPr txBox="1"/>
          <p:nvPr/>
        </p:nvSpPr>
        <p:spPr>
          <a:xfrm rot="16200000">
            <a:off x="5968468" y="3773538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BE070C2-CD7D-4F37-9245-E1E645EED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185868"/>
              </p:ext>
            </p:extLst>
          </p:nvPr>
        </p:nvGraphicFramePr>
        <p:xfrm>
          <a:off x="770364" y="735365"/>
          <a:ext cx="2916454" cy="7416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58227">
                  <a:extLst>
                    <a:ext uri="{9D8B030D-6E8A-4147-A177-3AD203B41FA5}">
                      <a16:colId xmlns:a16="http://schemas.microsoft.com/office/drawing/2014/main" val="2787017510"/>
                    </a:ext>
                  </a:extLst>
                </a:gridCol>
                <a:gridCol w="1458227">
                  <a:extLst>
                    <a:ext uri="{9D8B030D-6E8A-4147-A177-3AD203B41FA5}">
                      <a16:colId xmlns:a16="http://schemas.microsoft.com/office/drawing/2014/main" val="1012514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FLUKA-4.5.0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产率比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0.751162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44363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8D3948F-59AA-4BD6-910A-F523CD9D8985}"/>
              </a:ext>
            </a:extLst>
          </p:cNvPr>
          <p:cNvSpPr/>
          <p:nvPr/>
        </p:nvSpPr>
        <p:spPr>
          <a:xfrm>
            <a:off x="3758190" y="862795"/>
            <a:ext cx="29754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总光子数：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1.47×10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0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DD1F41-F9A7-4F3F-A096-A78B2226D74D}"/>
              </a:ext>
            </a:extLst>
          </p:cNvPr>
          <p:cNvSpPr txBox="1"/>
          <p:nvPr/>
        </p:nvSpPr>
        <p:spPr>
          <a:xfrm>
            <a:off x="-2" y="4141"/>
            <a:ext cx="679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辐射防护评估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中子能谱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34F867-4BAF-4A71-900F-BF7D08578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36" y="1867367"/>
            <a:ext cx="5600836" cy="41716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05A1C3-EB50-4D4B-ADC0-7C1B753CF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822" y="1901899"/>
            <a:ext cx="5387718" cy="410179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A547C55-CE20-40B6-B267-7A7E8AFE20FE}"/>
              </a:ext>
            </a:extLst>
          </p:cNvPr>
          <p:cNvSpPr txBox="1"/>
          <p:nvPr/>
        </p:nvSpPr>
        <p:spPr>
          <a:xfrm>
            <a:off x="2628734" y="5977574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(cm)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F790B7-F710-46E8-9749-1BD5D6B27CCB}"/>
              </a:ext>
            </a:extLst>
          </p:cNvPr>
          <p:cNvSpPr txBox="1"/>
          <p:nvPr/>
        </p:nvSpPr>
        <p:spPr>
          <a:xfrm rot="16200000">
            <a:off x="-101407" y="3768131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(cm)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90A380-D02F-4EE4-A6FF-1C2D9E34B058}"/>
              </a:ext>
            </a:extLst>
          </p:cNvPr>
          <p:cNvSpPr txBox="1"/>
          <p:nvPr/>
        </p:nvSpPr>
        <p:spPr>
          <a:xfrm>
            <a:off x="8311870" y="5967631"/>
            <a:ext cx="225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Neutron Energy (GeV)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E7430A6-AB0D-490D-8CFB-F8AB1F28317F}"/>
              </a:ext>
            </a:extLst>
          </p:cNvPr>
          <p:cNvSpPr txBox="1"/>
          <p:nvPr/>
        </p:nvSpPr>
        <p:spPr>
          <a:xfrm rot="16200000">
            <a:off x="5968468" y="3760475"/>
            <a:ext cx="901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B8240F3-14F7-4F3A-8497-8CDD5B76F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462495"/>
              </p:ext>
            </p:extLst>
          </p:nvPr>
        </p:nvGraphicFramePr>
        <p:xfrm>
          <a:off x="633210" y="735365"/>
          <a:ext cx="2916454" cy="7416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58227">
                  <a:extLst>
                    <a:ext uri="{9D8B030D-6E8A-4147-A177-3AD203B41FA5}">
                      <a16:colId xmlns:a16="http://schemas.microsoft.com/office/drawing/2014/main" val="2787017510"/>
                    </a:ext>
                  </a:extLst>
                </a:gridCol>
                <a:gridCol w="1458227">
                  <a:extLst>
                    <a:ext uri="{9D8B030D-6E8A-4147-A177-3AD203B41FA5}">
                      <a16:colId xmlns:a16="http://schemas.microsoft.com/office/drawing/2014/main" val="1012514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FLUKA-4.5.0</a:t>
                      </a:r>
                      <a:endParaRPr lang="zh-CN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产率比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2.02×10</a:t>
                      </a:r>
                      <a:r>
                        <a:rPr lang="en-US" altLang="zh-CN" sz="1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44363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CA5985E-DAFF-4FDC-BC8F-A84E3D790A49}"/>
              </a:ext>
            </a:extLst>
          </p:cNvPr>
          <p:cNvSpPr/>
          <p:nvPr/>
        </p:nvSpPr>
        <p:spPr>
          <a:xfrm>
            <a:off x="3758190" y="862795"/>
            <a:ext cx="29754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总中子数：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3.97×10</a:t>
            </a:r>
            <a:r>
              <a:rPr lang="en-US" altLang="zh-C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0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0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9B5E8FA-7E58-449B-A775-8C544C6CB50D}"/>
              </a:ext>
            </a:extLst>
          </p:cNvPr>
          <p:cNvSpPr txBox="1"/>
          <p:nvPr/>
        </p:nvSpPr>
        <p:spPr>
          <a:xfrm>
            <a:off x="3020290" y="2969945"/>
            <a:ext cx="6151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华文行楷" panose="02010800040101010101" pitchFamily="2" charset="-122"/>
                <a:ea typeface="华文行楷" panose="02010800040101010101" pitchFamily="2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270636438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111234</TotalTime>
  <Words>826</Words>
  <Application>Microsoft Office PowerPoint</Application>
  <PresentationFormat>宽屏</PresentationFormat>
  <Paragraphs>225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黑体</vt:lpstr>
      <vt:lpstr>华文行楷</vt:lpstr>
      <vt:lpstr>微软雅黑</vt:lpstr>
      <vt:lpstr>Arial</vt:lpstr>
      <vt:lpstr>Calibri</vt:lpstr>
      <vt:lpstr>Times New Roman</vt:lpstr>
      <vt:lpstr>Wingdings</vt:lpstr>
      <vt:lpstr>WPS</vt:lpstr>
      <vt:lpstr>利用FLUKA/MCNPX计算光核反应的产率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SHIWEI BAI</dc:creator>
  <cp:lastModifiedBy>SHIWEI BAI</cp:lastModifiedBy>
  <cp:revision>1090</cp:revision>
  <dcterms:created xsi:type="dcterms:W3CDTF">2023-08-09T12:44:55Z</dcterms:created>
  <dcterms:modified xsi:type="dcterms:W3CDTF">2025-07-19T13:33:25Z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